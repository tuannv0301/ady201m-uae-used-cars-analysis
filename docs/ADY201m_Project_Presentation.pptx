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731520"/>
            <a:ext cx="2651760" cy="2651760"/>
          </a:xfrm>
          <a:prstGeom prst="ellipse">
            <a:avLst/>
          </a:prstGeom>
          <a:solidFill>
            <a:srgbClr val="276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194560"/>
            <a:ext cx="1645920" cy="1645920"/>
          </a:xfrm>
          <a:prstGeom prst="ellipse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108960"/>
            <a:ext cx="1371600" cy="1371600"/>
          </a:xfrm>
          <a:prstGeom prst="ellipse">
            <a:avLst/>
          </a:prstGeom>
          <a:solidFill>
            <a:srgbClr val="48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6858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1">
                <a:solidFill>
                  <a:srgbClr val="73DCC3"/>
                </a:solidFill>
                <a:latin typeface="Aptos"/>
              </a:defRPr>
            </a:pPr>
            <a:r>
              <a:t>ADY201m · PROJECT PHÂN TÍCH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13232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Giá niêm yết xe cũ</a:t>
            </a:r>
            <a:br/>
            <a:r>
              <a:t>tại UAE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58368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0">
                <a:solidFill>
                  <a:srgbClr val="DAE4F2"/>
                </a:solidFill>
                <a:latin typeface="Aptos"/>
              </a:defRPr>
            </a:pPr>
            <a:r>
              <a:t>Khám phá liên hệ giữa giá, năm sản xuất, số km và đặc điểm 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6858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B9C6DA"/>
                </a:solidFill>
                <a:latin typeface="Aptos"/>
              </a:defRPr>
            </a:pPr>
            <a:r>
              <a:t>Nguồn: Kaggle · 10.000 tin đăng · CC BY-SA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28A387"/>
                </a:solidFill>
                <a:latin typeface="Aptos"/>
              </a:defRPr>
            </a:pPr>
            <a:r>
              <a:t>ADY201m · DATA SCIENCE WITH PYTHON &amp;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42648"/>
                </a:solidFill>
                <a:latin typeface="Aptos"/>
              </a:defRPr>
            </a:pPr>
            <a:r>
              <a:t>Bài toán thực tế và câu hỏi nghiên cứu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54864"/>
          </a:xfrm>
          <a:prstGeom prst="rect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5F6D7E"/>
                </a:solidFill>
                <a:latin typeface="Aptos"/>
              </a:defRPr>
            </a:pPr>
            <a:r>
              <a:t>Nguồn dữ liệu: Kaggle · UAE Used Car Prices &amp; Features (10K+ Listings) · CC BY-SA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607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142648"/>
                </a:solidFill>
                <a:latin typeface="Aptos"/>
              </a:defRPr>
            </a:pPr>
            <a:r>
              <a:t>Người mua/bán cần hiểu mức giá rao bán khác nhau giữa các dòng xe.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74720" cy="21945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31089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76CB2"/>
                </a:solidFill>
                <a:latin typeface="Aptos"/>
              </a:defRPr>
            </a:pPr>
            <a:r>
              <a:t>RQ1 · Mô tả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3108960" cy="14630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Giá thay đổi thế nào theo năm, số km, hãng, kiểu thân xe và địa điểm?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474720" cy="21945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96312"/>
            <a:ext cx="31089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RQ2 · So sánh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79"/>
            <a:ext cx="3108960" cy="14630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Phân phối giá SUV và Sedan có khác nhau trong mẫu không?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383280" cy="21945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496312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76CB2"/>
                </a:solidFill>
                <a:latin typeface="Aptos"/>
              </a:defRPr>
            </a:pPr>
            <a:r>
              <a:t>RQ3 · Đánh giá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926079"/>
            <a:ext cx="3017520" cy="14630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Year + Mileage dự đoán giá tốt đến đâu so với baseline trung vị?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105156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5F6D7E"/>
                </a:solidFill>
                <a:latin typeface="Aptos"/>
              </a:defRPr>
            </a:pPr>
            <a:r>
              <a:t>Biến đích: Price (AED) trong tin đăng. Đây không phải giá giao dịch đã xác nhận.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28A387"/>
                </a:solidFill>
                <a:latin typeface="Aptos"/>
              </a:defRPr>
            </a:pPr>
            <a:r>
              <a:t>ADY201m · DATA SCIENCE WITH PYTHON &amp;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42648"/>
                </a:solidFill>
                <a:latin typeface="Aptos"/>
              </a:defRPr>
            </a:pPr>
            <a:r>
              <a:t>Dữ liệu và bước chuẩn bị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54864"/>
          </a:xfrm>
          <a:prstGeom prst="rect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5F6D7E"/>
                </a:solidFill>
                <a:latin typeface="Aptos"/>
              </a:defRPr>
            </a:pPr>
            <a:r>
              <a:t>Nguồn dữ liệu: Kaggle · UAE Used Car Prices &amp; Features (10K+ Listings) · CC BY-SA 4.0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56032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76CB2"/>
                </a:solidFill>
                <a:latin typeface="Aptos"/>
              </a:defRPr>
            </a:pPr>
            <a:r>
              <a:t>Quy mô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94560" cy="7772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10.000 tin đăng</a:t>
            </a:r>
            <a:br/>
            <a:r>
              <a:t>12 trường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91640"/>
            <a:ext cx="256032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562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Đặc trưng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194560" cy="7772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Hãng, mẫu, năm, km, kiểu xe, nhiên liệu, hộp số, địa điểm…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91640"/>
            <a:ext cx="256032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562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76CB2"/>
                </a:solidFill>
                <a:latin typeface="Aptos"/>
              </a:defRPr>
            </a:pPr>
            <a:r>
              <a:t>Thiếu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86000"/>
            <a:ext cx="2194560" cy="7772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155 giá trị Cylinders chưa biết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691640"/>
            <a:ext cx="256032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856232"/>
            <a:ext cx="21945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Chuẩn hóa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286000"/>
            <a:ext cx="2194560" cy="7772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9.869 Location có khoảng trắng đầu/cuối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104241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142648"/>
                </a:solidFill>
                <a:latin typeface="Aptos"/>
              </a:defRPr>
            </a:pPr>
            <a:r>
              <a:t>Không có dòng trùng hoàn toàn. CSV gốc được giữ nguyên; làm sạch và lưu riêng.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Giá rất lệch phải: median 102.766 AED, mean 245.235 AED; cực đại 14.686.975 AED. Cần kiểm tra bản ghi đắt trước khi quyết định xử lý ngoại lệ.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28A387"/>
                </a:solidFill>
                <a:latin typeface="Aptos"/>
              </a:defRPr>
            </a:pPr>
            <a:r>
              <a:t>ADY201m · DATA SCIENCE WITH PYTHON &amp;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42648"/>
                </a:solidFill>
                <a:latin typeface="Aptos"/>
              </a:defRPr>
            </a:pPr>
            <a:r>
              <a:t>Quy trình: từ CSV đến SQL và thống kê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54864"/>
          </a:xfrm>
          <a:prstGeom prst="rect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5F6D7E"/>
                </a:solidFill>
                <a:latin typeface="Aptos"/>
              </a:defRPr>
            </a:pPr>
            <a:r>
              <a:t>Nguồn dữ liệu: Kaggle · UAE Used Car Prices &amp; Features (10K+ Listings) · CC BY-SA 4.0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9659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1284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87752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142648"/>
                </a:solidFill>
                <a:latin typeface="Aptos"/>
              </a:defRPr>
            </a:pPr>
            <a:r>
              <a:t>Câu hỏi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2" y="2404872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276C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057400"/>
            <a:ext cx="19659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221284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587752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142648"/>
                </a:solidFill>
                <a:latin typeface="Aptos"/>
              </a:defRPr>
            </a:pPr>
            <a:r>
              <a:t>Profile &amp; 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404872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276C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94376" y="2057400"/>
            <a:ext cx="19659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4104" y="221284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2587752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142648"/>
                </a:solidFill>
                <a:latin typeface="Aptos"/>
              </a:defRPr>
            </a:pPr>
            <a:r>
              <a:t>SQLite +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2404872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276C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2057400"/>
            <a:ext cx="19659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221284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2587752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142648"/>
                </a:solidFill>
                <a:latin typeface="Aptos"/>
              </a:defRPr>
            </a:pPr>
            <a:r>
              <a:t>Thống kê &amp;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92056" y="2404872"/>
            <a:ext cx="29260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276C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2" y="2057400"/>
            <a:ext cx="19659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21284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587752"/>
            <a:ext cx="17830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142648"/>
                </a:solidFill>
                <a:latin typeface="Aptos"/>
              </a:defRPr>
            </a:pPr>
            <a:r>
              <a:t>Hồi quy &amp; kết luận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977639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SQLite chuẩn hóa: car_listing liên kết make, body_type, emirate. Truy vấn dùng JOIN, GROUP BY, HAVING; Python kết nối qua sqlite3 và pandas.read_sql_query.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5F6D7E"/>
                </a:solidFill>
                <a:latin typeface="Aptos"/>
              </a:defRPr>
            </a:pPr>
            <a:r>
              <a:t>Code và database có thể chạy lại từ README.md.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28A387"/>
                </a:solidFill>
                <a:latin typeface="Aptos"/>
              </a:defRPr>
            </a:pPr>
            <a:r>
              <a:t>ADY201m · DATA SCIENCE WITH PYTHON &amp;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42648"/>
                </a:solidFill>
                <a:latin typeface="Aptos"/>
              </a:defRPr>
            </a:pPr>
            <a:r>
              <a:t>Kết quả 1 · Giá niêm yết có đuôi phải dài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54864"/>
          </a:xfrm>
          <a:prstGeom prst="rect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5F6D7E"/>
                </a:solidFill>
                <a:latin typeface="Aptos"/>
              </a:defRPr>
            </a:pPr>
            <a:r>
              <a:t>Nguồn dữ liệu: Kaggle · UAE Used Car Prices &amp; Features (10K+ Listings) · CC BY-SA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114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142648"/>
                </a:solidFill>
                <a:latin typeface="Aptos"/>
              </a:defRPr>
            </a:pPr>
            <a:r>
              <a:t>Trung vị so với trung bình (AED)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143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A3442"/>
                </a:solidFill>
                <a:latin typeface="Aptos"/>
              </a:defRPr>
            </a:pPr>
            <a:r>
              <a:t>Median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350008"/>
            <a:ext cx="3886200" cy="292608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03120" y="2350008"/>
            <a:ext cx="1536035" cy="292608"/>
          </a:xfrm>
          <a:prstGeom prst="rect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304288"/>
            <a:ext cx="14630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142648"/>
                </a:solidFill>
                <a:latin typeface="Aptos"/>
              </a:defRPr>
            </a:pPr>
            <a:r>
              <a:t>102,766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143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A3442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264408"/>
            <a:ext cx="3886200" cy="292608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03120" y="3264408"/>
            <a:ext cx="3665508" cy="292608"/>
          </a:xfrm>
          <a:prstGeom prst="rect">
            <a:avLst/>
          </a:prstGeom>
          <a:solidFill>
            <a:srgbClr val="276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218688"/>
            <a:ext cx="14630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142648"/>
                </a:solidFill>
                <a:latin typeface="Aptos"/>
              </a:defRPr>
            </a:pPr>
            <a:r>
              <a:t>245,235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874519"/>
            <a:ext cx="3474720" cy="214884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039112"/>
            <a:ext cx="31089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Khoảng giá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468879"/>
            <a:ext cx="310896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7.183 AED đến 14,69 triệu AED</a:t>
            </a:r>
            <a:br/>
            <a:r>
              <a:t>Q1: 50.353 · Q3: 231.248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Diễn giải: một số xe rất đắt kéo trung bình lên. Dùng median/quantile để tóm tắt trung tâm; chưa xóa ngoại lệ.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28A387"/>
                </a:solidFill>
                <a:latin typeface="Aptos"/>
              </a:defRPr>
            </a:pPr>
            <a:r>
              <a:t>ADY201m · DATA SCIENCE WITH PYTHON &amp;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42648"/>
                </a:solidFill>
                <a:latin typeface="Aptos"/>
              </a:defRPr>
            </a:pPr>
            <a:r>
              <a:t>Kết quả 2 · SUV và Sedan khác nhau trong mẫu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54864"/>
          </a:xfrm>
          <a:prstGeom prst="rect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5F6D7E"/>
                </a:solidFill>
                <a:latin typeface="Aptos"/>
              </a:defRPr>
            </a:pPr>
            <a:r>
              <a:t>Nguồn dữ liệu: Kaggle · UAE Used Car Prices &amp; Features (10K+ Listings) · CC BY-SA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143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142648"/>
                </a:solidFill>
                <a:latin typeface="Aptos"/>
              </a:defRPr>
            </a:pPr>
            <a:r>
              <a:t>SUV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2029968"/>
            <a:ext cx="4800600" cy="329184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0" y="2029968"/>
            <a:ext cx="4372755" cy="329184"/>
          </a:xfrm>
          <a:prstGeom prst="rect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93392"/>
            <a:ext cx="18288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2648"/>
                </a:solidFill>
                <a:latin typeface="Aptos"/>
              </a:defRPr>
            </a:pPr>
            <a:r>
              <a:t>118,414 AED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5F6D7E"/>
                </a:solidFill>
                <a:latin typeface="Aptos"/>
              </a:defRPr>
            </a:pPr>
            <a:r>
              <a:t>n=4,607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1143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142648"/>
                </a:solidFill>
                <a:latin typeface="Aptos"/>
              </a:defRPr>
            </a:pPr>
            <a:r>
              <a:t>Sedan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3401568"/>
            <a:ext cx="4800600" cy="329184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0" y="3401568"/>
            <a:ext cx="2595555" cy="329184"/>
          </a:xfrm>
          <a:prstGeom prst="rect">
            <a:avLst/>
          </a:prstGeom>
          <a:solidFill>
            <a:srgbClr val="276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364992"/>
            <a:ext cx="18288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2648"/>
                </a:solidFill>
                <a:latin typeface="Aptos"/>
              </a:defRPr>
            </a:pPr>
            <a:r>
              <a:t>70,288 AED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38328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5F6D7E"/>
                </a:solidFill>
                <a:latin typeface="Aptos"/>
              </a:defRPr>
            </a:pPr>
            <a:r>
              <a:t>n=2,790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1014984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82312"/>
            <a:ext cx="97840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Mann–Whitney U, hai phía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9784080" cy="5943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p xấp xỉ 1,44×10⁻⁷²; phân phối khác nhau trong mẫu. Không suy ra quan hệ nhân quả hoặc áp dụng trực tiếp cho cả thị trường.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28A387"/>
                </a:solidFill>
                <a:latin typeface="Aptos"/>
              </a:defRPr>
            </a:pPr>
            <a:r>
              <a:t>ADY201m · DATA SCIENCE WITH PYTHON &amp;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42648"/>
                </a:solidFill>
                <a:latin typeface="Aptos"/>
              </a:defRPr>
            </a:pPr>
            <a:r>
              <a:t>Kết quả 3 · Baseline hồi quy dự đoán yếu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54864"/>
          </a:xfrm>
          <a:prstGeom prst="rect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5F6D7E"/>
                </a:solidFill>
                <a:latin typeface="Aptos"/>
              </a:defRPr>
            </a:pPr>
            <a:r>
              <a:t>Nguồn dữ liệu: Kaggle · UAE Used Car Prices &amp; Features (10K+ Listings) · CC BY-SA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5F6D7E"/>
                </a:solidFill>
                <a:latin typeface="Aptos"/>
              </a:defRPr>
            </a:pPr>
            <a:r>
              <a:t>Mô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83080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5F6D7E"/>
                </a:solidFill>
                <a:latin typeface="Aptos"/>
              </a:defRPr>
            </a:pPr>
            <a:r>
              <a:t>MAE AED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5F6D7E"/>
                </a:solidFill>
                <a:latin typeface="Aptos"/>
              </a:defRPr>
            </a:pPr>
            <a:r>
              <a:t>RMSE AED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783080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5F6D7E"/>
                </a:solidFill>
                <a:latin typeface="Aptos"/>
              </a:defRPr>
            </a:pPr>
            <a:r>
              <a:t>R² AED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2461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2648"/>
                </a:solidFill>
                <a:latin typeface="Aptos"/>
              </a:defRPr>
            </a:pPr>
            <a:r>
              <a:t>Median 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331720"/>
            <a:ext cx="2011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193,478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21031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488,599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331720"/>
            <a:ext cx="1463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-0.096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32461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2648"/>
                </a:solidFill>
                <a:latin typeface="Aptos"/>
              </a:defRPr>
            </a:pPr>
            <a:r>
              <a:t>Log-price: Year + Mileage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246120"/>
            <a:ext cx="2011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193,896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21031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484,788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246120"/>
            <a:ext cx="1463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2A3442"/>
                </a:solidFill>
                <a:latin typeface="Aptos"/>
              </a:defRPr>
            </a:pPr>
            <a:r>
              <a:t>-0.079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4241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9B4A2D"/>
                </a:solidFill>
                <a:latin typeface="Aptos"/>
              </a:defRPr>
            </a:pPr>
            <a:r>
              <a:t>Train/test = 8.000/2.000, seed cố định. Hồi quy giảm RMSE nhẹ nhưng MAE cao hơn baseline; cả hai R² đều âm. Không dùng mô hình này để định giá.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28A387"/>
                </a:solidFill>
                <a:latin typeface="Aptos"/>
              </a:defRPr>
            </a:pPr>
            <a:r>
              <a:t>ADY201m · DATA SCIENCE WITH PYTHON &amp;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142648"/>
                </a:solidFill>
                <a:latin typeface="Aptos"/>
              </a:defRPr>
            </a:pPr>
            <a:r>
              <a:t>Kết luận và bước tiếp theo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51560" cy="54864"/>
          </a:xfrm>
          <a:prstGeom prst="rect">
            <a:avLst/>
          </a:prstGeom>
          <a:solidFill>
            <a:srgbClr val="28A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5F6D7E"/>
                </a:solidFill>
                <a:latin typeface="Aptos"/>
              </a:defRPr>
            </a:pPr>
            <a:r>
              <a:t>Nguồn dữ liệu: Kaggle · UAE Used Car Prices &amp; Features (10K+ Listings) · CC BY-SA 4.0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20574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470915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8A387"/>
                </a:solidFill>
                <a:latin typeface="Aptos"/>
              </a:defRPr>
            </a:pPr>
            <a:r>
              <a:t>Kết luận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709159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Kiểu xe và giá có khác biệt mô tả. Year/Mileage đơn lẻ gần như không tương quan tuyến tính với Price trong toàn bộ mẫu.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074920" cy="20574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01952"/>
            <a:ext cx="470915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76CB2"/>
                </a:solidFill>
                <a:latin typeface="Aptos"/>
              </a:defRPr>
            </a:pPr>
            <a:r>
              <a:t>Hạn chế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4709159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2A3442"/>
                </a:solidFill>
                <a:latin typeface="Aptos"/>
              </a:defRPr>
            </a:pPr>
            <a:r>
              <a:t>Giá đăng, không phải giá bán; Dubai chiếm đa số; giá cực trị; mô tả tình trạng là văn bản tự do; baseline thiếu nhiều đặc trưng.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42416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2648"/>
                </a:solidFill>
                <a:latin typeface="Aptos"/>
              </a:defRPr>
            </a:pPr>
            <a:r>
              <a:t>Tiếp theo: bổ sung hãng/mẫu/địa điểm và thông tin mô tả có kiểm soát, kiểm tra ngoại lệ, cross-validation, phân tích phần dư.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241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5F6D7E"/>
                </a:solidFill>
                <a:latin typeface="Aptos"/>
              </a:defRPr>
            </a:pPr>
            <a:r>
              <a:t>Nguồn và giấy phép được ghi trong báo cáo. Đối chiếu slide với rubric chính thức trước khi nộp.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